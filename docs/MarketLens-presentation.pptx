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257d6f7654404" /><Relationship Type="http://schemas.openxmlformats.org/officeDocument/2006/relationships/extended-properties" Target="/docProps/app.xml" Id="Rcd5143148c484e73" /><Relationship Type="http://schemas.openxmlformats.org/officeDocument/2006/relationships/officeDocument" Target="/ppt/presentation.xml" Id="R2357e9ee4fb5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1c2e1918e8431b"/>
  </p:sldMasterIdLst>
  <p:notesMasterIdLst>
    <p:notesMasterId xmlns:r="http://schemas.openxmlformats.org/officeDocument/2006/relationships" r:id="R6bd4894607c54413"/>
  </p:notesMasterIdLst>
  <p:sldIdLst>
    <p:sldId xmlns:r="http://schemas.openxmlformats.org/officeDocument/2006/relationships" id="256" r:id="Rc8c8a11e5a8c45cd"/>
    <p:sldId xmlns:r="http://schemas.openxmlformats.org/officeDocument/2006/relationships" id="257" r:id="Rf41e990159e3440f"/>
    <p:sldId xmlns:r="http://schemas.openxmlformats.org/officeDocument/2006/relationships" id="258" r:id="R23ffb06c50364b4b"/>
    <p:sldId xmlns:r="http://schemas.openxmlformats.org/officeDocument/2006/relationships" id="259" r:id="Rebd6aca619314a1f"/>
    <p:sldId xmlns:r="http://schemas.openxmlformats.org/officeDocument/2006/relationships" id="260" r:id="R311941b11f324c76"/>
    <p:sldId xmlns:r="http://schemas.openxmlformats.org/officeDocument/2006/relationships" id="261" r:id="R48d5085aec5b4c23"/>
    <p:sldId xmlns:r="http://schemas.openxmlformats.org/officeDocument/2006/relationships" id="262" r:id="R669a8d106a9a42d8"/>
    <p:sldId xmlns:r="http://schemas.openxmlformats.org/officeDocument/2006/relationships" id="263" r:id="Rf5bd5de6fc7f46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96878067314d2b" /><Relationship Type="http://schemas.openxmlformats.org/officeDocument/2006/relationships/slideMaster" Target="/ppt/slideMasters/slideMaster1.xml" Id="Rba1c2e1918e8431b" /><Relationship Type="http://schemas.openxmlformats.org/officeDocument/2006/relationships/notesMaster" Target="/ppt/notesMasters/notesMaster1.xml" Id="R6bd4894607c54413" /><Relationship Type="http://schemas.openxmlformats.org/officeDocument/2006/relationships/presProps" Target="/ppt/presProps.xml" Id="R1a714e4e310e4c8d" /><Relationship Type="http://schemas.openxmlformats.org/officeDocument/2006/relationships/tableStyles" Target="/ppt/tableStyles.xml" Id="R54f939cebad2407e" /><Relationship Type="http://schemas.openxmlformats.org/officeDocument/2006/relationships/slide" Target="/ppt/slides/slide1.xml" Id="Rc8c8a11e5a8c45cd" /><Relationship Type="http://schemas.openxmlformats.org/officeDocument/2006/relationships/slide" Target="/ppt/slides/slide2.xml" Id="Rf41e990159e3440f" /><Relationship Type="http://schemas.openxmlformats.org/officeDocument/2006/relationships/slide" Target="/ppt/slides/slide3.xml" Id="R23ffb06c50364b4b" /><Relationship Type="http://schemas.openxmlformats.org/officeDocument/2006/relationships/slide" Target="/ppt/slides/slide4.xml" Id="Rebd6aca619314a1f" /><Relationship Type="http://schemas.openxmlformats.org/officeDocument/2006/relationships/slide" Target="/ppt/slides/slide5.xml" Id="R311941b11f324c76" /><Relationship Type="http://schemas.openxmlformats.org/officeDocument/2006/relationships/slide" Target="/ppt/slides/slide6.xml" Id="R48d5085aec5b4c23" /><Relationship Type="http://schemas.openxmlformats.org/officeDocument/2006/relationships/slide" Target="/ppt/slides/slide7.xml" Id="R669a8d106a9a42d8" /><Relationship Type="http://schemas.openxmlformats.org/officeDocument/2006/relationships/slide" Target="/ppt/slides/slide8.xml" Id="Rf5bd5de6fc7f46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e17556a61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662ec84134cdb" /><Relationship Type="http://schemas.openxmlformats.org/officeDocument/2006/relationships/notesMaster" Target="/ppt/notesMasters/notesMaster1.xml" Id="R0fc27d8612164b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6e914f580468e" /><Relationship Type="http://schemas.openxmlformats.org/officeDocument/2006/relationships/notesMaster" Target="/ppt/notesMasters/notesMaster1.xml" Id="Rf44118df07b6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426faf91ad4dcb" /><Relationship Type="http://schemas.openxmlformats.org/officeDocument/2006/relationships/notesMaster" Target="/ppt/notesMasters/notesMaster1.xml" Id="R984ff8a94723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2af1979df94dc3" /><Relationship Type="http://schemas.openxmlformats.org/officeDocument/2006/relationships/notesMaster" Target="/ppt/notesMasters/notesMaster1.xml" Id="R03ca7612e4e14b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10e9780802481e" /><Relationship Type="http://schemas.openxmlformats.org/officeDocument/2006/relationships/notesMaster" Target="/ppt/notesMasters/notesMaster1.xml" Id="R754631661a6043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32af40bac4852" /><Relationship Type="http://schemas.openxmlformats.org/officeDocument/2006/relationships/notesMaster" Target="/ppt/notesMasters/notesMaster1.xml" Id="R7e8208c8abb2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99e399f41d4bd2" /><Relationship Type="http://schemas.openxmlformats.org/officeDocument/2006/relationships/notesMaster" Target="/ppt/notesMasters/notesMaster1.xml" Id="R06dba6e6979841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9edf6d32442fb" /><Relationship Type="http://schemas.openxmlformats.org/officeDocument/2006/relationships/notesMaster" Target="/ppt/notesMasters/notesMaster1.xml" Id="R1aa8ece6cd2b4e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f6a1ef1a5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fdad45a7b644d9" /><Relationship Type="http://schemas.openxmlformats.org/officeDocument/2006/relationships/slideLayout" Target="/ppt/slideLayouts/slideLayout1.xml" Id="Rb900cb302c5243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00cb302c5243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f9351ce9f4f2c" /><Relationship Type="http://schemas.openxmlformats.org/officeDocument/2006/relationships/notesSlide" Target="/ppt/notesSlides/notesSlide1.xml" Id="Rc589633a660f46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4e714cdf84392" /><Relationship Type="http://schemas.openxmlformats.org/officeDocument/2006/relationships/notesSlide" Target="/ppt/notesSlides/notesSlide2.xml" Id="R255d8156616347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d91a5c19340a8" /><Relationship Type="http://schemas.openxmlformats.org/officeDocument/2006/relationships/notesSlide" Target="/ppt/notesSlides/notesSlide3.xml" Id="R5b7ade14c9ec48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37f615f674d2c" /><Relationship Type="http://schemas.openxmlformats.org/officeDocument/2006/relationships/notesSlide" Target="/ppt/notesSlides/notesSlide4.xml" Id="Re04e38d5a9ac46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67b8f37d94908" /><Relationship Type="http://schemas.openxmlformats.org/officeDocument/2006/relationships/image" Target="/ppt/media/image.png" Id="Re01185f4071944a9" /><Relationship Type="http://schemas.openxmlformats.org/officeDocument/2006/relationships/image" Target="/ppt/media/image2.png" Id="Ra053dc156e2d4517" /><Relationship Type="http://schemas.openxmlformats.org/officeDocument/2006/relationships/notesSlide" Target="/ppt/notesSlides/notesSlide5.xml" Id="R9487dc7071da46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ec0cd2f734c85" /><Relationship Type="http://schemas.openxmlformats.org/officeDocument/2006/relationships/notesSlide" Target="/ppt/notesSlides/notesSlide6.xml" Id="Ra90bdf82426d41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9b40132324150" /><Relationship Type="http://schemas.openxmlformats.org/officeDocument/2006/relationships/notesSlide" Target="/ppt/notesSlides/notesSlide7.xml" Id="Rc4434d06abe5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1c2294c374266" /><Relationship Type="http://schemas.openxmlformats.org/officeDocument/2006/relationships/notesSlide" Target="/ppt/notesSlides/notesSlide8.xml" Id="Rddafd24ee9524f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692D5-A454-4B64-BF0D-0E75BAB9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MARKETLENS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F0AF1-A755-426B-A1AF-277AD554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810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Від даних до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працюючого AI-сигналу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C0C8A-975D-4C00-A310-BEC0AC81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MSFT · 5 торгових днів · Vue + FastAPI + GPU MLP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13E93-A185-43BF-8386-24BBE1E3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Артем і Степан</a:t>
            </a:r>
          </a:p>
        </p:txBody>
      </p:sp>
    </p:spTree>
    <p:extLst>
      <p:ext uri="{BB962C8B-B14F-4D97-AF65-F5344CB8AC3E}">
        <p14:creationId xmlns:p14="http://schemas.microsoft.com/office/powerpoint/2010/main" val="1146003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79034-D1C0-42A8-A59D-36F3511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MarketLens відповідає на одне чітке питання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01925-0E12-4FE2-8574-9CA1580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6291F-1A56-474B-BD20-B9FD56FF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8D3D9-2396-4535-8819-E81205D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UNDERPERFORM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7D05D-589B-4D11-A6C5-987304E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33750"/>
            <a:ext cx="309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MSFT відстає від SPY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більш ніж на 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86504-8EBD-4510-A972-66554D4A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Горизонт: наступні 5 торгових днів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F7D2D-BEA3-4ECC-8FF9-C6B5ACFA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B6F37-AD2D-437A-A94C-CD4F445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NEUTRAL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2EEB8-48ED-4A6A-A324-761C4725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309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Різниця залишається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в межах ±1%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10D85-F4A6-44C5-A718-696C7E4A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Горизонт: наступні 5 торгових днів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8DFC-2F7E-4B6B-B5D6-F2285FBB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71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8108-1479-4CE3-AE0D-2AC925EC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6700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OUTPERFORM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C77DC-E773-4F99-BA21-DBE6A3FB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33750"/>
            <a:ext cx="3095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MSFT випереджає SPY</a:t>
            </a:r>
          </a:p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більш ніж на 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E8C20-19EE-40DF-8742-28DA49A8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57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Горизонт: наступні 5 торгових днів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0642D-B2BC-49A8-9E7D-2044857F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Модель прогнозує відносний результат, а не точну ціну та не фінансову пораду.</a:t>
            </a:r>
          </a:p>
        </p:txBody>
      </p:sp>
    </p:spTree>
    <p:extLst>
      <p:ext uri="{BB962C8B-B14F-4D97-AF65-F5344CB8AC3E}">
        <p14:creationId xmlns:p14="http://schemas.microsoft.com/office/powerpoint/2010/main" val="17522123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333D2-8E17-4838-93F3-00BD6A1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32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Хронологічний поділ не дозволяє моделі «побачити майбутнє»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F7A16-6DDD-412D-BE2E-AC80B896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523875" y="333375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D68EE-AC20-4A82-91D5-B041BB15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885BD-FF20-4F23-BE03-6D6986B9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5A47C-D7D0-4147-B535-0C7BDB8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2016–2022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16F27-F12B-4C11-8B71-34D23D9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Навчання ваг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і масштабування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EECE0-F0A0-4FC4-9161-68E35D5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CAEF4-475E-4146-9073-72A04274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4A94F-D068-44E9-89E9-EA4C895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2023–2024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8D23F-095A-44B4-99F3-BD01C8C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38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Вибір рішення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без дотику до тесту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12B3D-E2C0-4D28-90D1-7647D0D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0ECD5-1BA9-4075-9347-FC5F2CD9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E6C68-E2F9-4277-B8E5-3D684CF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2025–07.07.2026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F24B6-E248-47D1-9EE4-C22FB1D1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38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374 рядки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лише фінальна оцінка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B6299-6BEE-4D73-9F0B-59FC664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Ознаки використовують тільки інформацію, доступну до моменту прогнозу.</a:t>
            </a:r>
          </a:p>
        </p:txBody>
      </p:sp>
    </p:spTree>
    <p:extLst>
      <p:ext uri="{BB962C8B-B14F-4D97-AF65-F5344CB8AC3E}">
        <p14:creationId xmlns:p14="http://schemas.microsoft.com/office/powerpoint/2010/main" val="1091417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76B91-C58D-40DF-A0F8-A4EE0262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GPU навчає модель, а сайт запускає її без GPU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23939-A991-449F-9F3E-629ED42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60D68-907F-4788-BDC1-FA6C435E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428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3382A-3C19-42ED-A557-057FEC0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36 ознак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05005-626F-425F-9E26-17DF24E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доходності · обсяг · волатильність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4087-73E6-4D4B-B802-075A001E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432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62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669D5-7B26-4D36-9736-ABD74202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76500"/>
            <a:ext cx="2428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2DC78-C5B5-472A-8E2A-3B23568C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GPU MLP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C3716-27FE-4650-8633-4035FB5C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 приховані шари + BatchNorm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C6DEF-711E-4120-9341-9F95DA5B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432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62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DE92C-9D02-49CA-8ECB-CD1125B3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428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6A660-7230-42B4-810F-5D531E1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55 КіБ NumPy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794A4-92BD-459E-8A9C-CFC21529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компактні ваги для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D5E87-B0C1-452F-8A18-964C5211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62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02897-6E3A-43C7-BCDE-243A77CC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76500"/>
            <a:ext cx="2428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EF5D9-5D15-4813-AEC4-8A9973C1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2047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ймовірності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73952-AE77-4479-B8C1-0B5E497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сигнал + confidence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9DED0-E52C-4CDC-9417-D2C9A691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Один і той самий frozen model перевірено: NumPy-результати збігаються з PyTorch на всьому тесті.</a:t>
            </a:r>
          </a:p>
        </p:txBody>
      </p:sp>
    </p:spTree>
    <p:extLst>
      <p:ext uri="{BB962C8B-B14F-4D97-AF65-F5344CB8AC3E}">
        <p14:creationId xmlns:p14="http://schemas.microsoft.com/office/powerpoint/2010/main" val="8223155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5C953-C91A-427E-9C5D-64DA2DC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Модель краща за базові рішення, але якість ще помірна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4C18B-2F89-4283-A660-3F62220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185f4071944a9"/>
          <a:stretch xmlns:a="http://schemas.openxmlformats.org/drawingml/2006/main"/>
        </p:blipFill>
        <p:spPr>
          <a:xfrm xmlns:a="http://schemas.openxmlformats.org/drawingml/2006/main">
            <a:off x="333375" y="1716967"/>
            <a:ext cx="5619750" cy="3328816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3dc156e2d4517"/>
          <a:stretch xmlns:a="http://schemas.openxmlformats.org/drawingml/2006/main"/>
        </p:blipFill>
        <p:spPr>
          <a:xfrm xmlns:a="http://schemas.openxmlformats.org/drawingml/2006/main">
            <a:off x="6313646" y="1190625"/>
            <a:ext cx="5279708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B01E9-1E62-4C5C-AC82-50F8944B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Macro-F1: MLP 0,339 · дерево 0,281 · dummy 0,169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74033-A93F-4614-B8E7-2FF241F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Тому сайт називає результат експериментальним сигналом, а не рекомендацією.</a:t>
            </a:r>
          </a:p>
        </p:txBody>
      </p:sp>
    </p:spTree>
    <p:extLst>
      <p:ext uri="{BB962C8B-B14F-4D97-AF65-F5344CB8AC3E}">
        <p14:creationId xmlns:p14="http://schemas.microsoft.com/office/powerpoint/2010/main" val="992593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C4F9C-5CAA-4914-A714-8486ACCC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Повний шлях прогнозу вже працює у вебпродукті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4C2B3-B769-4DF6-B932-D1BDFA13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46EA5-E8F7-481E-A832-00F56AC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2722A-A3C0-4F9D-A207-F857B5A4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VUE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E86A3-553A-4927-84CE-28910356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свічки · dashboard</a:t>
            </a:r>
          </a:p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probabilities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0934-E79E-46A8-A8FA-3E53C57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01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5F2F3-F7FC-4ED8-BA57-FC1A5F9F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D869-D7BE-403F-A8A9-7337CAD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8C5BE-F6A5-4A1C-8679-86E8231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history · assets</a:t>
            </a:r>
          </a:p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65C12-83A6-4F83-92DC-572EA71F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013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BB5F8-AD37-4FFF-AAA0-B381395A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AEE03-295D-44CC-BEAF-F7E1295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NUMPY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C6DBB2-17C4-4A38-A2DA-B5C56B3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36 ознак →</a:t>
            </a:r>
          </a:p>
          <a:p xmlns:a="http://schemas.openxmlformats.org/drawingml/2006/main">
            <a:pPr algn="ctr"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 класи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3AAE1-BD99-4622-A235-63AFC9E8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7437D-C0E1-41FA-B395-88EE4524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95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EEC28-54A8-4CBF-AB63-9FB40728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95875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66666"/>
                </a:solidFill>
                <a:latin typeface="Arial"/>
                <a:ea typeface="Arial"/>
                <a:cs typeface="Arial"/>
              </a:rPr>
              <a:t>55 КіБ · CPU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384F1-971E-42FA-9884-7041A1F8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API та frontend мають тести; місяці на графіку відображаються англійською.</a:t>
            </a:r>
          </a:p>
        </p:txBody>
      </p:sp>
    </p:spTree>
    <p:extLst>
      <p:ext uri="{BB962C8B-B14F-4D97-AF65-F5344CB8AC3E}">
        <p14:creationId xmlns:p14="http://schemas.microsoft.com/office/powerpoint/2010/main" val="1822627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4D1B7-68CF-46A5-ADD4-C2F713C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Чотири контрольні точки мають конкретних власників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A4EDB-FF4D-4626-982C-7B2F490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95A77-EC96-4E11-8BCE-271BE7F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429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4BCFA-2604-4584-9219-91E4B40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85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САЙТ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35E51-0AAF-4C04-841A-A713C2F2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43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Степан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E4AE1-F549-4F41-AC87-46398A00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00250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фінальний UI ·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FFE92-3A8F-4323-92D0-6DC6FDD6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76375"/>
            <a:ext cx="5429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060BF-43AC-46ED-AB37-93547A8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859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B75ED-604E-4796-BCC0-7AC8438B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Артем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3CB389-F3B3-4E91-A7A2-C1F0B6DD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00250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notebooks · метрики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4D61A-5A95-4A32-A43D-B65F894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429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A59C27-C83D-43E5-9A7F-444C397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ВИСТУП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48EC5-8DDA-44AA-AB7C-15E0D91B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930CB-FC40-45FD-A3E8-88378AEE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3862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Степан: продукт</a:t>
            </a:r>
          </a:p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Артем: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490D9B-87DF-434A-A212-C4655131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429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solidFill>
              <a:srgbClr val="E8F1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45F16-9D56-4797-8F1C-128973E9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924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29779-8EA6-4027-B3F0-C60EF3B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8150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Разом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416CD-C51F-4A5A-ADA0-12A61F76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Vercel + Render</a:t>
            </a:r>
          </a:p>
        </p:txBody>
      </p:sp>
    </p:spTree>
    <p:extLst>
      <p:ext uri="{BB962C8B-B14F-4D97-AF65-F5344CB8AC3E}">
        <p14:creationId xmlns:p14="http://schemas.microsoft.com/office/powerpoint/2010/main" val="12585879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3EFAA-56E8-4825-9D75-8F5F0EA0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ВИСНОВОК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2BE00-7DFB-482E-957F-00ACFEEF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038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920"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Ми побудували не просто модель,</a:t>
            </a:r>
          </a:p>
          <a:p xmlns:a="http://schemas.openxmlformats.org/drawingml/2006/main">
            <a:pPr algn="l">
              <a:defRPr sz="4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а відтворюваний AI-продукт.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BCAA6-82D7-471C-B33E-01ED7068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дані → чесний тест → API → сайт → публічний деплой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4605E-CC56-4864-9A93-30B0E5C8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Наступний крок: нові тикери та щоденне оновлення після закриття біржі.</a:t>
            </a:r>
          </a:p>
        </p:txBody>
      </p:sp>
    </p:spTree>
    <p:extLst>
      <p:ext uri="{BB962C8B-B14F-4D97-AF65-F5344CB8AC3E}">
        <p14:creationId xmlns:p14="http://schemas.microsoft.com/office/powerpoint/2010/main" val="155442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2026-07-16T12:32:40.8720000Z</dcterms:created>
  <dcterms:modified xsi:type="dcterms:W3CDTF">2026-07-16T12:32:40.8720000Z</dcterms:modified>
</coreProperties>
</file>